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mừng và giới thiệu về CrewAI, một giải pháp quản lý đội ngũ thông minh dựa trên trí tuệ nhân tạo. Hãy nhấn mạnh khả năng của CrewAI trong việc giúp các doanh nghiệp tối ưu hóa quy trình quản lý nhân sự và cải thiện hiệu suất tổng thể.</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về CrewAI và công nghệ trí tuệ nhân tạo được sử dụng. Hãy nhấn mạnh khả năng của CrewAI trong việc giúp các doanh nghiệp tối ưu hóa quy trình quản lý nhân sự và cải thiện hiệu suất tổng thể.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về bản chất công nghệ của CrewAI. Hãy giải thích về việc sử dụng học máy, dự đoán nhu cầu lao động và thuật toán để tối ưu hóa lịch trình làm việc.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các tính năng chính của CrewAI. Hãy nhấn mạnh khả năng của CrewAI trong việc giúp các doanh nghiệp cải thiện hiệu suất tổng thể và giảm thiểu rủi 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sánh CrewAI với OpenClaw về các tính năng và lợi thế. Hãy nhấn mạnh khả năng của CrewAI trong việc giúp các doanh nghiệp cải thiện hiệu suất tổng thể và giảm thiểu rủi 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sánh CrewAI với Antigravity về các tính năng và lợi thế. Hãy nhấn mạnh khả năng của CrewAI trong việc giúp các doanh nghiệp cải thiện hiệu suất tổng thể và giảm thiểu rủi 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các ứng dụng thực tiễn của CrewAI trong các ngành khác nhau. Hãy nhấn mạnh khả năng của CrewAI trong việc giúp các doanh nghiệp cải thiện hiệu suất tổng thể và giảm thiểu rủi 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Thảo luận về tương lai của CrewAI và tiềm năng phát triển. Hãy nhấn mạnh khả năng của CrewAI trong việc giúp các doanh nghiệp cải thiện hiệu suất tổng thể và giảm thiểu rủi 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tắt lại các lợi ích chính của CrewAI. Hãy nhấn mạnh khả năng của CrewAI trong việc giúp các doanh nghiệp cải thiện hiệu suất tổng thể và giảm thiểu rủi 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các kết quả có thể đạt được khi sử dụng CrewAI. Hãy nhấn mạnh khả năng của CrewAI trong việc giúp các doanh nghiệp cải thiện hiệu suất tổng thể và giảm thiểu rủi 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7315200" cy="1828800"/>
          </a:xfrm>
          <a:prstGeom prst="rect">
            <a:avLst/>
          </a:prstGeom>
          <a:noFill/>
        </p:spPr>
        <p:txBody>
          <a:bodyPr wrap="square">
            <a:spAutoFit/>
          </a:bodyPr>
          <a:lstStyle/>
          <a:p>
            <a:pPr algn="l">
              <a:defRPr sz="4000" b="1">
                <a:solidFill>
                  <a:srgbClr val="1B3A5C"/>
                </a:solidFill>
              </a:defRPr>
            </a:pPr>
            <a:r>
              <a:t>CrewAI</a:t>
            </a:r>
          </a:p>
        </p:txBody>
      </p:sp>
      <p:sp>
        <p:nvSpPr>
          <p:cNvPr id="4" name="TextBox 3"/>
          <p:cNvSpPr txBox="1"/>
          <p:nvPr/>
        </p:nvSpPr>
        <p:spPr>
          <a:xfrm>
            <a:off x="914400" y="3840480"/>
            <a:ext cx="7315200" cy="914400"/>
          </a:xfrm>
          <a:prstGeom prst="rect">
            <a:avLst/>
          </a:prstGeom>
          <a:noFill/>
        </p:spPr>
        <p:txBody>
          <a:bodyPr wrap="square">
            <a:spAutoFit/>
          </a:bodyPr>
          <a:lstStyle/>
          <a:p>
            <a:pPr algn="l">
              <a:defRPr sz="2000">
                <a:solidFill>
                  <a:srgbClr val="333333"/>
                </a:solidFill>
              </a:defRPr>
            </a:pPr>
            <a:r>
              <a:t>Giới Thiêu Về CrewAI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914400"/>
          </a:xfrm>
          <a:prstGeom prst="rect">
            <a:avLst/>
          </a:prstGeom>
          <a:noFill/>
        </p:spPr>
        <p:txBody>
          <a:bodyPr wrap="square">
            <a:spAutoFit/>
          </a:bodyPr>
          <a:lstStyle/>
          <a:p>
            <a:pPr algn="l">
              <a:defRPr sz="2800" b="1">
                <a:solidFill>
                  <a:srgbClr val="1B3A5C"/>
                </a:solidFill>
              </a:defRPr>
            </a:pPr>
            <a:r>
              <a:t>Tổng Quan</a:t>
            </a:r>
          </a:p>
        </p:txBody>
      </p:sp>
      <p:sp>
        <p:nvSpPr>
          <p:cNvPr id="4" name="Rectangle 3"/>
          <p:cNvSpPr/>
          <p:nvPr/>
        </p:nvSpPr>
        <p:spPr>
          <a:xfrm>
            <a:off x="731520" y="1280160"/>
            <a:ext cx="7772400" cy="254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589520" cy="4846320"/>
          </a:xfrm>
          <a:prstGeom prst="rect">
            <a:avLst/>
          </a:prstGeom>
          <a:noFill/>
        </p:spPr>
        <p:txBody>
          <a:bodyPr wrap="square">
            <a:spAutoFit/>
          </a:bodyPr>
          <a:lstStyle/>
          <a:p>
            <a:pPr>
              <a:spcAft>
                <a:spcPts val="800"/>
              </a:spcAft>
              <a:defRPr sz="1800">
                <a:solidFill>
                  <a:srgbClr val="333333"/>
                </a:solidFill>
              </a:defRPr>
            </a:pPr>
            <a:r>
              <a:t>• Nền tảng quản lý đội ngũ thông minh</a:t>
            </a:r>
          </a:p>
          <a:p>
            <a:pPr>
              <a:spcAft>
                <a:spcPts val="800"/>
              </a:spcAft>
              <a:defRPr sz="1800">
                <a:solidFill>
                  <a:srgbClr val="333333"/>
                </a:solidFill>
              </a:defRPr>
            </a:pPr>
            <a:r>
              <a:t>• Công nghệ trí tuệ nhân tạo</a:t>
            </a:r>
          </a:p>
          <a:p>
            <a:pPr>
              <a:spcAft>
                <a:spcPts val="800"/>
              </a:spcAft>
              <a:defRPr sz="1800">
                <a:solidFill>
                  <a:srgbClr val="333333"/>
                </a:solidFill>
              </a:defRPr>
            </a:pPr>
            <a:r>
              <a:t>• Tối ưu hóa quản lý nhân sự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914400"/>
          </a:xfrm>
          <a:prstGeom prst="rect">
            <a:avLst/>
          </a:prstGeom>
          <a:noFill/>
        </p:spPr>
        <p:txBody>
          <a:bodyPr wrap="square">
            <a:spAutoFit/>
          </a:bodyPr>
          <a:lstStyle/>
          <a:p>
            <a:pPr algn="l">
              <a:defRPr sz="2800" b="1">
                <a:solidFill>
                  <a:srgbClr val="1B3A5C"/>
                </a:solidFill>
              </a:defRPr>
            </a:pPr>
            <a:r>
              <a:t>Bản Chất Công Nghệ</a:t>
            </a:r>
          </a:p>
        </p:txBody>
      </p:sp>
      <p:sp>
        <p:nvSpPr>
          <p:cNvPr id="4" name="Rectangle 3"/>
          <p:cNvSpPr/>
          <p:nvPr/>
        </p:nvSpPr>
        <p:spPr>
          <a:xfrm>
            <a:off x="731520" y="1280160"/>
            <a:ext cx="7772400" cy="254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589520" cy="4846320"/>
          </a:xfrm>
          <a:prstGeom prst="rect">
            <a:avLst/>
          </a:prstGeom>
          <a:noFill/>
        </p:spPr>
        <p:txBody>
          <a:bodyPr wrap="square">
            <a:spAutoFit/>
          </a:bodyPr>
          <a:lstStyle/>
          <a:p>
            <a:pPr>
              <a:spcAft>
                <a:spcPts val="800"/>
              </a:spcAft>
              <a:defRPr sz="1800">
                <a:solidFill>
                  <a:srgbClr val="333333"/>
                </a:solidFill>
              </a:defRPr>
            </a:pPr>
            <a:r>
              <a:t>• Học máy</a:t>
            </a:r>
          </a:p>
          <a:p>
            <a:pPr>
              <a:spcAft>
                <a:spcPts val="800"/>
              </a:spcAft>
              <a:defRPr sz="1800">
                <a:solidFill>
                  <a:srgbClr val="333333"/>
                </a:solidFill>
              </a:defRPr>
            </a:pPr>
            <a:r>
              <a:t>• Dự đoán nhu cầu lao động</a:t>
            </a:r>
          </a:p>
          <a:p>
            <a:pPr>
              <a:spcAft>
                <a:spcPts val="800"/>
              </a:spcAft>
              <a:defRPr sz="1800">
                <a:solidFill>
                  <a:srgbClr val="333333"/>
                </a:solidFill>
              </a:defRPr>
            </a:pPr>
            <a:r>
              <a:t>• Thuật toán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914400"/>
          </a:xfrm>
          <a:prstGeom prst="rect">
            <a:avLst/>
          </a:prstGeom>
          <a:noFill/>
        </p:spPr>
        <p:txBody>
          <a:bodyPr wrap="square">
            <a:spAutoFit/>
          </a:bodyPr>
          <a:lstStyle/>
          <a:p>
            <a:pPr algn="l">
              <a:defRPr sz="2800" b="1">
                <a:solidFill>
                  <a:srgbClr val="1B3A5C"/>
                </a:solidFill>
              </a:defRPr>
            </a:pPr>
            <a:r>
              <a:t>Tính Năng</a:t>
            </a:r>
          </a:p>
        </p:txBody>
      </p:sp>
      <p:sp>
        <p:nvSpPr>
          <p:cNvPr id="4" name="Rectangle 3"/>
          <p:cNvSpPr/>
          <p:nvPr/>
        </p:nvSpPr>
        <p:spPr>
          <a:xfrm>
            <a:off x="731520" y="1280160"/>
            <a:ext cx="7772400" cy="254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589520" cy="4846320"/>
          </a:xfrm>
          <a:prstGeom prst="rect">
            <a:avLst/>
          </a:prstGeom>
          <a:noFill/>
        </p:spPr>
        <p:txBody>
          <a:bodyPr wrap="square">
            <a:spAutoFit/>
          </a:bodyPr>
          <a:lstStyle/>
          <a:p>
            <a:pPr>
              <a:spcAft>
                <a:spcPts val="800"/>
              </a:spcAft>
              <a:defRPr sz="1800">
                <a:solidFill>
                  <a:srgbClr val="333333"/>
                </a:solidFill>
              </a:defRPr>
            </a:pPr>
            <a:r>
              <a:t>• Tối ưu hóa lịch trình làm việc</a:t>
            </a:r>
          </a:p>
          <a:p>
            <a:pPr>
              <a:spcAft>
                <a:spcPts val="800"/>
              </a:spcAft>
              <a:defRPr sz="1800">
                <a:solidFill>
                  <a:srgbClr val="333333"/>
                </a:solidFill>
              </a:defRPr>
            </a:pPr>
            <a:r>
              <a:t>• Dự đoán nhu cầu lao động</a:t>
            </a:r>
          </a:p>
          <a:p>
            <a:pPr>
              <a:spcAft>
                <a:spcPts val="800"/>
              </a:spcAft>
              <a:defRPr sz="1800">
                <a:solidFill>
                  <a:srgbClr val="333333"/>
                </a:solidFill>
              </a:defRPr>
            </a:pPr>
            <a:r>
              <a:t>• Đánh giá hiệu suất làm việc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914400"/>
          </a:xfrm>
          <a:prstGeom prst="rect">
            <a:avLst/>
          </a:prstGeom>
          <a:noFill/>
        </p:spPr>
        <p:txBody>
          <a:bodyPr wrap="square">
            <a:spAutoFit/>
          </a:bodyPr>
          <a:lstStyle/>
          <a:p>
            <a:pPr algn="l">
              <a:defRPr sz="2800" b="1">
                <a:solidFill>
                  <a:srgbClr val="1B3A5C"/>
                </a:solidFill>
              </a:defRPr>
            </a:pPr>
            <a:r>
              <a:t>So Sánh Với OpenClaw</a:t>
            </a:r>
          </a:p>
        </p:txBody>
      </p:sp>
      <p:sp>
        <p:nvSpPr>
          <p:cNvPr id="4" name="Rectangle 3"/>
          <p:cNvSpPr/>
          <p:nvPr/>
        </p:nvSpPr>
        <p:spPr>
          <a:xfrm>
            <a:off x="731520" y="1280160"/>
            <a:ext cx="7772400" cy="254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589520" cy="4846320"/>
          </a:xfrm>
          <a:prstGeom prst="rect">
            <a:avLst/>
          </a:prstGeom>
          <a:noFill/>
        </p:spPr>
        <p:txBody>
          <a:bodyPr wrap="square">
            <a:spAutoFit/>
          </a:bodyPr>
          <a:lstStyle/>
          <a:p>
            <a:pPr>
              <a:spcAft>
                <a:spcPts val="800"/>
              </a:spcAft>
              <a:defRPr sz="1800">
                <a:solidFill>
                  <a:srgbClr val="333333"/>
                </a:solidFill>
              </a:defRPr>
            </a:pPr>
            <a:r>
              <a:t>• Khả năng tùy chỉnh</a:t>
            </a:r>
          </a:p>
          <a:p>
            <a:pPr>
              <a:spcAft>
                <a:spcPts val="800"/>
              </a:spcAft>
              <a:defRPr sz="1800">
                <a:solidFill>
                  <a:srgbClr val="333333"/>
                </a:solidFill>
              </a:defRPr>
            </a:pPr>
            <a:r>
              <a:t>• Tích hợp AI</a:t>
            </a:r>
          </a:p>
          <a:p>
            <a:pPr>
              <a:spcAft>
                <a:spcPts val="800"/>
              </a:spcAft>
              <a:defRPr sz="1800">
                <a:solidFill>
                  <a:srgbClr val="333333"/>
                </a:solidFill>
              </a:defRPr>
            </a:pPr>
            <a:r>
              <a:t>• Tối ưu hóa lịch trình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914400"/>
          </a:xfrm>
          <a:prstGeom prst="rect">
            <a:avLst/>
          </a:prstGeom>
          <a:noFill/>
        </p:spPr>
        <p:txBody>
          <a:bodyPr wrap="square">
            <a:spAutoFit/>
          </a:bodyPr>
          <a:lstStyle/>
          <a:p>
            <a:pPr algn="l">
              <a:defRPr sz="2800" b="1">
                <a:solidFill>
                  <a:srgbClr val="1B3A5C"/>
                </a:solidFill>
              </a:defRPr>
            </a:pPr>
            <a:r>
              <a:t>So Sánh Với Antigravity</a:t>
            </a:r>
          </a:p>
        </p:txBody>
      </p:sp>
      <p:sp>
        <p:nvSpPr>
          <p:cNvPr id="4" name="Rectangle 3"/>
          <p:cNvSpPr/>
          <p:nvPr/>
        </p:nvSpPr>
        <p:spPr>
          <a:xfrm>
            <a:off x="731520" y="1280160"/>
            <a:ext cx="7772400" cy="254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589520" cy="4846320"/>
          </a:xfrm>
          <a:prstGeom prst="rect">
            <a:avLst/>
          </a:prstGeom>
          <a:noFill/>
        </p:spPr>
        <p:txBody>
          <a:bodyPr wrap="square">
            <a:spAutoFit/>
          </a:bodyPr>
          <a:lstStyle/>
          <a:p>
            <a:pPr>
              <a:spcAft>
                <a:spcPts val="800"/>
              </a:spcAft>
              <a:defRPr sz="1800">
                <a:solidFill>
                  <a:srgbClr val="333333"/>
                </a:solidFill>
              </a:defRPr>
            </a:pPr>
            <a:r>
              <a:t>• Gắn kết đội ngũ</a:t>
            </a:r>
          </a:p>
          <a:p>
            <a:pPr>
              <a:spcAft>
                <a:spcPts val="800"/>
              </a:spcAft>
              <a:defRPr sz="1800">
                <a:solidFill>
                  <a:srgbClr val="333333"/>
                </a:solidFill>
              </a:defRPr>
            </a:pPr>
            <a:r>
              <a:t>• Dự đoán và tối ưu hóa</a:t>
            </a:r>
          </a:p>
          <a:p>
            <a:pPr>
              <a:spcAft>
                <a:spcPts val="800"/>
              </a:spcAft>
              <a:defRPr sz="1800">
                <a:solidFill>
                  <a:srgbClr val="333333"/>
                </a:solidFill>
              </a:defRPr>
            </a:pPr>
            <a:r>
              <a:t>• Tối ưu hóa lịch trình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914400"/>
          </a:xfrm>
          <a:prstGeom prst="rect">
            <a:avLst/>
          </a:prstGeom>
          <a:noFill/>
        </p:spPr>
        <p:txBody>
          <a:bodyPr wrap="square">
            <a:spAutoFit/>
          </a:bodyPr>
          <a:lstStyle/>
          <a:p>
            <a:pPr algn="l">
              <a:defRPr sz="2800" b="1">
                <a:solidFill>
                  <a:srgbClr val="1B3A5C"/>
                </a:solidFill>
              </a:defRPr>
            </a:pPr>
            <a:r>
              <a:t>Ứng Dụng Thực Tiễn</a:t>
            </a:r>
          </a:p>
        </p:txBody>
      </p:sp>
      <p:sp>
        <p:nvSpPr>
          <p:cNvPr id="4" name="Rectangle 3"/>
          <p:cNvSpPr/>
          <p:nvPr/>
        </p:nvSpPr>
        <p:spPr>
          <a:xfrm>
            <a:off x="731520" y="1280160"/>
            <a:ext cx="7772400" cy="254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589520" cy="4846320"/>
          </a:xfrm>
          <a:prstGeom prst="rect">
            <a:avLst/>
          </a:prstGeom>
          <a:noFill/>
        </p:spPr>
        <p:txBody>
          <a:bodyPr wrap="square">
            <a:spAutoFit/>
          </a:bodyPr>
          <a:lstStyle/>
          <a:p>
            <a:pPr>
              <a:spcAft>
                <a:spcPts val="800"/>
              </a:spcAft>
              <a:defRPr sz="1800">
                <a:solidFill>
                  <a:srgbClr val="333333"/>
                </a:solidFill>
              </a:defRPr>
            </a:pPr>
            <a:r>
              <a:t>• Ngành hàng không</a:t>
            </a:r>
          </a:p>
          <a:p>
            <a:pPr>
              <a:spcAft>
                <a:spcPts val="800"/>
              </a:spcAft>
              <a:defRPr sz="1800">
                <a:solidFill>
                  <a:srgbClr val="333333"/>
                </a:solidFill>
              </a:defRPr>
            </a:pPr>
            <a:r>
              <a:t>• Vận tải</a:t>
            </a:r>
          </a:p>
          <a:p>
            <a:pPr>
              <a:spcAft>
                <a:spcPts val="800"/>
              </a:spcAft>
              <a:defRPr sz="1800">
                <a:solidFill>
                  <a:srgbClr val="333333"/>
                </a:solidFill>
              </a:defRPr>
            </a:pPr>
            <a:r>
              <a:t>• Sản xuất và dịch vụ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914400"/>
          </a:xfrm>
          <a:prstGeom prst="rect">
            <a:avLst/>
          </a:prstGeom>
          <a:noFill/>
        </p:spPr>
        <p:txBody>
          <a:bodyPr wrap="square">
            <a:spAutoFit/>
          </a:bodyPr>
          <a:lstStyle/>
          <a:p>
            <a:pPr algn="l">
              <a:defRPr sz="2800" b="1">
                <a:solidFill>
                  <a:srgbClr val="1B3A5C"/>
                </a:solidFill>
              </a:defRPr>
            </a:pPr>
            <a:r>
              <a:t>Tương Lai</a:t>
            </a:r>
          </a:p>
        </p:txBody>
      </p:sp>
      <p:sp>
        <p:nvSpPr>
          <p:cNvPr id="4" name="Rectangle 3"/>
          <p:cNvSpPr/>
          <p:nvPr/>
        </p:nvSpPr>
        <p:spPr>
          <a:xfrm>
            <a:off x="731520" y="1280160"/>
            <a:ext cx="7772400" cy="254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589520" cy="4846320"/>
          </a:xfrm>
          <a:prstGeom prst="rect">
            <a:avLst/>
          </a:prstGeom>
          <a:noFill/>
        </p:spPr>
        <p:txBody>
          <a:bodyPr wrap="square">
            <a:spAutoFit/>
          </a:bodyPr>
          <a:lstStyle/>
          <a:p>
            <a:pPr>
              <a:spcAft>
                <a:spcPts val="800"/>
              </a:spcAft>
              <a:defRPr sz="1800">
                <a:solidFill>
                  <a:srgbClr val="333333"/>
                </a:solidFill>
              </a:defRPr>
            </a:pPr>
            <a:r>
              <a:t>• Phát triển và nâng cấp</a:t>
            </a:r>
          </a:p>
          <a:p>
            <a:pPr>
              <a:spcAft>
                <a:spcPts val="800"/>
              </a:spcAft>
              <a:defRPr sz="1800">
                <a:solidFill>
                  <a:srgbClr val="333333"/>
                </a:solidFill>
              </a:defRPr>
            </a:pPr>
            <a:r>
              <a:t>• Tích hợp trí tuệ nhân tạo</a:t>
            </a:r>
          </a:p>
          <a:p>
            <a:pPr>
              <a:spcAft>
                <a:spcPts val="800"/>
              </a:spcAft>
              <a:defRPr sz="1800">
                <a:solidFill>
                  <a:srgbClr val="333333"/>
                </a:solidFill>
              </a:defRPr>
            </a:pPr>
            <a:r>
              <a:t>• Trở thành công cụ quản lý đội ngũ hàng đầu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914400"/>
          </a:xfrm>
          <a:prstGeom prst="rect">
            <a:avLst/>
          </a:prstGeom>
          <a:noFill/>
        </p:spPr>
        <p:txBody>
          <a:bodyPr wrap="square">
            <a:spAutoFit/>
          </a:bodyPr>
          <a:lstStyle/>
          <a:p>
            <a:pPr algn="l">
              <a:defRPr sz="2800" b="1">
                <a:solidFill>
                  <a:srgbClr val="1B3A5C"/>
                </a:solidFill>
              </a:defRPr>
            </a:pPr>
            <a:r>
              <a:t>Lợi Ích</a:t>
            </a:r>
          </a:p>
        </p:txBody>
      </p:sp>
      <p:sp>
        <p:nvSpPr>
          <p:cNvPr id="4" name="Rectangle 3"/>
          <p:cNvSpPr/>
          <p:nvPr/>
        </p:nvSpPr>
        <p:spPr>
          <a:xfrm>
            <a:off x="731520" y="1280160"/>
            <a:ext cx="7772400" cy="254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589520" cy="4846320"/>
          </a:xfrm>
          <a:prstGeom prst="rect">
            <a:avLst/>
          </a:prstGeom>
          <a:noFill/>
        </p:spPr>
        <p:txBody>
          <a:bodyPr wrap="square">
            <a:spAutoFit/>
          </a:bodyPr>
          <a:lstStyle/>
          <a:p>
            <a:pPr>
              <a:spcAft>
                <a:spcPts val="800"/>
              </a:spcAft>
              <a:defRPr sz="1800">
                <a:solidFill>
                  <a:srgbClr val="333333"/>
                </a:solidFill>
              </a:defRPr>
            </a:pPr>
            <a:r>
              <a:t>• Tối ưu hóa lịch trình làm việc</a:t>
            </a:r>
          </a:p>
          <a:p>
            <a:pPr>
              <a:spcAft>
                <a:spcPts val="800"/>
              </a:spcAft>
              <a:defRPr sz="1800">
                <a:solidFill>
                  <a:srgbClr val="333333"/>
                </a:solidFill>
              </a:defRPr>
            </a:pPr>
            <a:r>
              <a:t>• Dự đoán nhu cầu lao động</a:t>
            </a:r>
          </a:p>
          <a:p>
            <a:pPr>
              <a:spcAft>
                <a:spcPts val="800"/>
              </a:spcAft>
              <a:defRPr sz="1800">
                <a:solidFill>
                  <a:srgbClr val="333333"/>
                </a:solidFill>
              </a:defRPr>
            </a:pPr>
            <a:r>
              <a:t>• Đánh giá hiệu suất làm việc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914400"/>
          </a:xfrm>
          <a:prstGeom prst="rect">
            <a:avLst/>
          </a:prstGeom>
          <a:noFill/>
        </p:spPr>
        <p:txBody>
          <a:bodyPr wrap="square">
            <a:spAutoFit/>
          </a:bodyPr>
          <a:lstStyle/>
          <a:p>
            <a:pPr algn="l">
              <a:defRPr sz="2800" b="1">
                <a:solidFill>
                  <a:srgbClr val="1B3A5C"/>
                </a:solidFill>
              </a:defRPr>
            </a:pPr>
            <a:r>
              <a:t>Kết Quả</a:t>
            </a:r>
          </a:p>
        </p:txBody>
      </p:sp>
      <p:sp>
        <p:nvSpPr>
          <p:cNvPr id="4" name="Rectangle 3"/>
          <p:cNvSpPr/>
          <p:nvPr/>
        </p:nvSpPr>
        <p:spPr>
          <a:xfrm>
            <a:off x="731520" y="1280160"/>
            <a:ext cx="7772400" cy="254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589520" cy="4846320"/>
          </a:xfrm>
          <a:prstGeom prst="rect">
            <a:avLst/>
          </a:prstGeom>
          <a:noFill/>
        </p:spPr>
        <p:txBody>
          <a:bodyPr wrap="square">
            <a:spAutoFit/>
          </a:bodyPr>
          <a:lstStyle/>
          <a:p>
            <a:pPr>
              <a:spcAft>
                <a:spcPts val="800"/>
              </a:spcAft>
              <a:defRPr sz="1800">
                <a:solidFill>
                  <a:srgbClr val="333333"/>
                </a:solidFill>
              </a:defRPr>
            </a:pPr>
            <a:r>
              <a:t>• Cải thiện hiệu suất tổng thể</a:t>
            </a:r>
          </a:p>
          <a:p>
            <a:pPr>
              <a:spcAft>
                <a:spcPts val="800"/>
              </a:spcAft>
              <a:defRPr sz="1800">
                <a:solidFill>
                  <a:srgbClr val="333333"/>
                </a:solidFill>
              </a:defRPr>
            </a:pPr>
            <a:r>
              <a:t>• Giảm thiểu rủi ro</a:t>
            </a:r>
          </a:p>
          <a:p>
            <a:pPr>
              <a:spcAft>
                <a:spcPts val="800"/>
              </a:spcAft>
              <a:defRPr sz="1800">
                <a:solidFill>
                  <a:srgbClr val="333333"/>
                </a:solidFill>
              </a:defRPr>
            </a:pPr>
            <a:r>
              <a:t>• Tăng cường an toàn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371600"/>
          </a:xfrm>
          <a:prstGeom prst="rect">
            <a:avLst/>
          </a:prstGeom>
          <a:noFill/>
        </p:spPr>
        <p:txBody>
          <a:bodyPr wrap="square">
            <a:spAutoFit/>
          </a:bodyPr>
          <a:lstStyle/>
          <a:p>
            <a:pPr algn="ctr">
              <a:defRPr sz="4000" b="1">
                <a:solidFill>
                  <a:srgbClr val="1B3A5C"/>
                </a:solidFill>
              </a:defRPr>
            </a:pPr>
            <a:r>
              <a:t>Tóm Tắt &amp; Cảm Ơn</a:t>
            </a:r>
          </a:p>
        </p:txBody>
      </p:sp>
      <p:sp>
        <p:nvSpPr>
          <p:cNvPr id="4" name="TextBox 3"/>
          <p:cNvSpPr txBox="1"/>
          <p:nvPr/>
        </p:nvSpPr>
        <p:spPr>
          <a:xfrm>
            <a:off x="1371600" y="3657600"/>
            <a:ext cx="6400800" cy="2286000"/>
          </a:xfrm>
          <a:prstGeom prst="rect">
            <a:avLst/>
          </a:prstGeom>
          <a:noFill/>
        </p:spPr>
        <p:txBody>
          <a:bodyPr wrap="square">
            <a:spAutoFit/>
          </a:bodyPr>
          <a:lstStyle/>
          <a:p>
            <a:pPr>
              <a:spcAft>
                <a:spcPts val="600"/>
              </a:spcAft>
              <a:defRPr sz="1800">
                <a:solidFill>
                  <a:srgbClr val="333333"/>
                </a:solidFill>
              </a:defRPr>
            </a:pPr>
            <a:r>
              <a:t>• CrewAI: Giải Pháp Quản Lý Đội Ngũ Thông Minh</a:t>
            </a:r>
          </a:p>
          <a:p>
            <a:pPr>
              <a:spcAft>
                <a:spcPts val="600"/>
              </a:spcAft>
              <a:defRPr sz="1800">
                <a:solidFill>
                  <a:srgbClr val="333333"/>
                </a:solidFill>
              </a:defRPr>
            </a:pPr>
            <a:r>
              <a:t>• Cải thiện hiệu suất tổng thể và giảm thiểu rủi 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